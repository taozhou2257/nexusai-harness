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35440" y="1005840"/>
            <a:ext cx="1234440" cy="320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1005840"/>
            <a:ext cx="1234440" cy="59436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25880"/>
            <a:ext cx="594360" cy="105156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829800" y="1005840"/>
            <a:ext cx="640080" cy="137160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2377440"/>
            <a:ext cx="1371600" cy="320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201400" y="1600200"/>
            <a:ext cx="502920" cy="109728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607040" y="2697480"/>
            <a:ext cx="594360" cy="114300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189720" y="2377440"/>
            <a:ext cx="640080" cy="10058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9720" y="3383280"/>
            <a:ext cx="1417320" cy="45720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840480"/>
            <a:ext cx="1115568" cy="320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01400" y="2697480"/>
            <a:ext cx="521208" cy="1463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69880" y="1005840"/>
            <a:ext cx="731520" cy="16916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3144" y="1243584"/>
            <a:ext cx="164592" cy="164592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41864" y="877824"/>
            <a:ext cx="256032" cy="256032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31168" y="1527048"/>
            <a:ext cx="146304" cy="146304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9216" y="2276856"/>
            <a:ext cx="201168" cy="201168"/>
          </a:xfrm>
          <a:prstGeom prst="ellipse">
            <a:avLst/>
          </a:prstGeom>
          <a:solidFill>
            <a:srgbClr val="7BE8CE"/>
          </a:solidFill>
          <a:ln w="12700">
            <a:solidFill>
              <a:srgbClr val="7BE8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45952" y="2542032"/>
            <a:ext cx="310896" cy="310896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6568" y="3310128"/>
            <a:ext cx="146304" cy="146304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3739896"/>
            <a:ext cx="201168" cy="201168"/>
          </a:xfrm>
          <a:prstGeom prst="ellipse">
            <a:avLst/>
          </a:prstGeom>
          <a:solidFill>
            <a:srgbClr val="7BE8CE"/>
          </a:solidFill>
          <a:ln w="12700">
            <a:solidFill>
              <a:srgbClr val="7BE8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40312" y="4078224"/>
            <a:ext cx="164592" cy="164592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00C2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NEXUSAI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" y="120700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NexusAgent Builder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822960" y="2084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BE8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让每个企业，拥有自己的 AI 工作台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22960" y="26974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本地独立 Agent ＋ 企业能力直连，安全可控、开箱即用。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一个工作台，装下企业的 AI 能力。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从工具连接到智能编排，为每家企业白标交付。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" y="4343400"/>
            <a:ext cx="2496312" cy="1207008"/>
          </a:xfrm>
          <a:prstGeom prst="roundRect">
            <a:avLst>
              <a:gd name="adj" fmla="val 6818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5568" y="4617720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452628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成熟内核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5568" y="4910328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规划、调用与会话能力全内置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02152" y="4343400"/>
            <a:ext cx="2496312" cy="1207008"/>
          </a:xfrm>
          <a:prstGeom prst="roundRect">
            <a:avLst>
              <a:gd name="adj" fmla="val 6818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4617720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5072" y="452628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双轨模型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94760" y="4910328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本地与企业模型，双轨并行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1344" y="4343400"/>
            <a:ext cx="2496312" cy="1207008"/>
          </a:xfrm>
          <a:prstGeom prst="roundRect">
            <a:avLst>
              <a:gd name="adj" fmla="val 6818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4617720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452628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三支柱工作台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73952" y="4910328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 · 技能 · 连接器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60536" y="4343400"/>
            <a:ext cx="2496312" cy="1207008"/>
          </a:xfrm>
          <a:prstGeom prst="roundRect">
            <a:avLst>
              <a:gd name="adj" fmla="val 6818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53144" y="4617720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63456" y="452628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白标交付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53144" y="4910328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一套客户端，服务每家企业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70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NexusAI · 产品介绍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0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让每个企业拥有自己的 AI 工作台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产品定位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04672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为什么是桌面客户端？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安全、直连、人人可用 —— 桌面形态的三个理由。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084832"/>
            <a:ext cx="512064" cy="51206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037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208483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数据留在本地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98064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与数据，都在企业自己的电脑上；信息不出域，安全可控。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9664" y="2194560"/>
            <a:ext cx="0" cy="1481328"/>
          </a:xfrm>
          <a:prstGeom prst="line">
            <a:avLst/>
          </a:prstGeom>
          <a:noFill/>
          <a:ln w="12700">
            <a:solidFill>
              <a:srgbClr val="D5E6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98264" y="2084832"/>
            <a:ext cx="512064" cy="51206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2037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3208" y="208483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企业能力直连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98264" y="2798064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一次登录，企业能力自动就位；随组织切换，实时刷新。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44968" y="2194560"/>
            <a:ext cx="0" cy="1481328"/>
          </a:xfrm>
          <a:prstGeom prst="line">
            <a:avLst/>
          </a:prstGeom>
          <a:noFill/>
          <a:ln w="12700">
            <a:solidFill>
              <a:srgbClr val="D5E6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73568" y="2084832"/>
            <a:ext cx="512064" cy="51206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2037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208483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人人可以用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973568" y="2798064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全程可视化操作，零门槛上手，不需要开发者。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4846320"/>
            <a:ext cx="10543032" cy="731520"/>
          </a:xfrm>
          <a:prstGeom prst="roundRect">
            <a:avLst>
              <a:gd name="adj" fmla="val 10000"/>
            </a:avLst>
          </a:prstGeom>
          <a:solidFill>
            <a:srgbClr val="E2F4ED"/>
          </a:solidFill>
          <a:ln w="12700">
            <a:solidFill>
              <a:srgbClr val="CBE9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70432" y="5152644"/>
            <a:ext cx="118872" cy="118872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426464" y="4901184"/>
            <a:ext cx="9720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这就是桌面形态：数据不出域，能力进得来，体验属于每个人。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核心能力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04672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一个工作台，装下企业的 AI 能力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登录即装载，随组织而变；本地能力，始终可用。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339242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3856" y="2121408"/>
            <a:ext cx="585216" cy="585216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2585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287121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33856" y="336499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企业智慧，随呼随用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3856" y="376732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企业沉淀的专家能力，在会话中直接可用，随组织而变。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98264" y="1810512"/>
            <a:ext cx="339242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121408"/>
            <a:ext cx="585216" cy="585216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5856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287121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09160" y="336499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一键装配，即装即用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709160" y="376732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从企业目录到中文技能市场，获取、管理、启停，全程可视。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73568" y="1810512"/>
            <a:ext cx="339242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84464" y="2121408"/>
            <a:ext cx="585216" cy="585216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25856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4464" y="287121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连接器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84464" y="336499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连接一切，无缝融入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284464" y="376732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主流协议一站接入，新旧服务统统接得进来，能力一目了然。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960" y="4800600"/>
            <a:ext cx="10543032" cy="731520"/>
          </a:xfrm>
          <a:prstGeom prst="roundRect">
            <a:avLst>
              <a:gd name="adj" fmla="val 10000"/>
            </a:avLst>
          </a:prstGeom>
          <a:solidFill>
            <a:srgbClr val="E2F4ED"/>
          </a:solidFill>
          <a:ln w="12700">
            <a:solidFill>
              <a:srgbClr val="CBE9D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70432" y="5106924"/>
            <a:ext cx="118872" cy="118872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426464" y="4855464"/>
            <a:ext cx="9720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统一入口：专家 · 技能 · 连接器，随企业身份而行。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连接能力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04672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连接一切 MCP 服务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没有接不进来的服务，只有还没添加的服务。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75504" cy="1664208"/>
          </a:xfrm>
          <a:prstGeom prst="roundRect">
            <a:avLst>
              <a:gd name="adj" fmla="val 4396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039112"/>
            <a:ext cx="457200" cy="457200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14426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03911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全形态接入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2642616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主流接入方式，一站支持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新服务，即添即用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90488" y="1783080"/>
            <a:ext cx="5175504" cy="1664208"/>
          </a:xfrm>
          <a:prstGeom prst="roundRect">
            <a:avLst>
              <a:gd name="adj" fmla="val 4396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2039112"/>
            <a:ext cx="457200" cy="457200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214426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8312" y="203911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兼容存量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64808" y="2642616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旧式服务也能接入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存量资产，全部盘活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" y="3611880"/>
            <a:ext cx="5175504" cy="1664208"/>
          </a:xfrm>
          <a:prstGeom prst="roundRect">
            <a:avLst>
              <a:gd name="adj" fmla="val 4396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7280" y="3867912"/>
            <a:ext cx="457200" cy="457200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397306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0784" y="386791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连接可见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97280" y="4471416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连通状态与能力，一目了然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启停自如，即时生效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90488" y="3611880"/>
            <a:ext cx="5175504" cy="1664208"/>
          </a:xfrm>
          <a:prstGeom prst="roundRect">
            <a:avLst>
              <a:gd name="adj" fmla="val 4396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4808" y="3867912"/>
            <a:ext cx="457200" cy="457200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3973068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68312" y="386791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工具透明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64808" y="4471416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能调用什么，清清楚楚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参数与说明，全部可见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22960" y="5504688"/>
            <a:ext cx="10543032" cy="566928"/>
          </a:xfrm>
          <a:prstGeom prst="roundRect">
            <a:avLst>
              <a:gd name="adj" fmla="val 11290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170432" y="5733288"/>
            <a:ext cx="109728" cy="109728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444752" y="5550408"/>
            <a:ext cx="9674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E8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从创建到桥接，从状态到参数 —— 连接器的每个细节都看得见。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能力版图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04672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面向企业智能的下一站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能力版图持续扩展：AI，正在成为企业自己的基础设施。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2496312" cy="27432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084832"/>
            <a:ext cx="420624" cy="42062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可视化工作流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3054096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让流程自己跑起来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341985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拖拽编排，人人可搭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02152" y="1810512"/>
            <a:ext cx="2496312" cy="27432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76472" y="2084832"/>
            <a:ext cx="420624" cy="42062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6517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企业知识库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76472" y="3054096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让知识会回答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76472" y="341985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随问随答，有据可依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810512"/>
            <a:ext cx="2496312" cy="27432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2084832"/>
            <a:ext cx="420624" cy="42062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5664" y="26517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55664" y="3054096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让智能可控可管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55664" y="341985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私有化 · 权限 · 审计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0536" y="1810512"/>
            <a:ext cx="2496312" cy="27432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DCEDE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A1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34856" y="2084832"/>
            <a:ext cx="420624" cy="42062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34856" y="26517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生态与协作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34856" y="3054096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9D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让能力流动起来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34856" y="341985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C73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共享复用，协同进化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800600"/>
            <a:ext cx="10543032" cy="731520"/>
          </a:xfrm>
          <a:prstGeom prst="roundRect">
            <a:avLst>
              <a:gd name="adj" fmla="val 10000"/>
            </a:avLst>
          </a:prstGeom>
          <a:solidFill>
            <a:srgbClr val="E2F4ED"/>
          </a:solidFill>
          <a:ln w="12700">
            <a:solidFill>
              <a:srgbClr val="CBE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5106924"/>
            <a:ext cx="118872" cy="118872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6464" y="4855464"/>
            <a:ext cx="9720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从连接到编排，从知识到治理 —— 企业智能，一站配齐。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为什么选我们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04672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为什么选 NexusAgent Builder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站在成熟内核之上，也与同类方案拉开了身位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10543032" cy="713232"/>
          </a:xfrm>
          <a:prstGeom prst="roundRect">
            <a:avLst>
              <a:gd name="adj" fmla="val 10256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965960"/>
            <a:ext cx="109728" cy="109728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77393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E8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成熟内核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17520" y="175564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任务规划 · 工具调用 · 会话与技能体系 · 浏览器与电脑操作 全内置；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本地运行、安全可控 —— 专注把企业能力与体验做到极致。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通用本地客户端的常见局限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5420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8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NexusAgent Builder · 我们的优势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53328" y="2889504"/>
            <a:ext cx="0" cy="2816352"/>
          </a:xfrm>
          <a:prstGeom prst="line">
            <a:avLst/>
          </a:prstGeom>
          <a:noFill/>
          <a:ln w="12700">
            <a:solidFill>
              <a:srgbClr val="1F3A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077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模型通道单一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7648" y="3058668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9077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双轨模型：本地与企业模型，双轨并行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3101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能力散落各处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7648" y="3461004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3101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全域工作台：专家 · 技能 · 连接器，一屏统管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71246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知识与流程割裂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7648" y="3863340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7124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知识与流程：会回答，更能自动执行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11480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脱离组织身份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7648" y="4265676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1148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企业直连：账号、组织、能力，随身份而行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51713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存量服务接不进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7648" y="4668012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5171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连接最全：新老服务，一次接齐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9194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中文场景缺位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7648" y="5070348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9194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中文生态：中文市场与场景，原生适配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532180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无法品牌化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5472684"/>
            <a:ext cx="100584" cy="100584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3218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4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白标交付：一套客户端，服务每家企业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5815584"/>
            <a:ext cx="10543032" cy="566928"/>
          </a:xfrm>
          <a:prstGeom prst="roundRect">
            <a:avLst>
              <a:gd name="adj" fmla="val 11290"/>
            </a:avLst>
          </a:prstGeom>
          <a:solidFill>
            <a:srgbClr val="132720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0432" y="6044184"/>
            <a:ext cx="109728" cy="109728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44752" y="5861304"/>
            <a:ext cx="9674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E8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企业级就绪：数据不出域；组织、权限与品牌，随企业体系同行。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35440" y="1005840"/>
            <a:ext cx="1234440" cy="320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1005840"/>
            <a:ext cx="1234440" cy="59436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25880"/>
            <a:ext cx="594360" cy="105156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829800" y="1005840"/>
            <a:ext cx="640080" cy="137160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2377440"/>
            <a:ext cx="1371600" cy="320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201400" y="1600200"/>
            <a:ext cx="502920" cy="109728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607040" y="2697480"/>
            <a:ext cx="594360" cy="114300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189720" y="2377440"/>
            <a:ext cx="640080" cy="10058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9720" y="3383280"/>
            <a:ext cx="1417320" cy="45720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840480"/>
            <a:ext cx="1115568" cy="320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01400" y="2697480"/>
            <a:ext cx="521208" cy="14630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69880" y="1005840"/>
            <a:ext cx="731520" cy="1691640"/>
          </a:xfrm>
          <a:prstGeom prst="line">
            <a:avLst/>
          </a:prstGeom>
          <a:noFill/>
          <a:ln w="15875">
            <a:solidFill>
              <a:srgbClr val="1F3A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3144" y="1243584"/>
            <a:ext cx="164592" cy="164592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41864" y="877824"/>
            <a:ext cx="256032" cy="256032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31168" y="1527048"/>
            <a:ext cx="146304" cy="146304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9216" y="2276856"/>
            <a:ext cx="201168" cy="201168"/>
          </a:xfrm>
          <a:prstGeom prst="ellipse">
            <a:avLst/>
          </a:prstGeom>
          <a:solidFill>
            <a:srgbClr val="7BE8CE"/>
          </a:solidFill>
          <a:ln w="12700">
            <a:solidFill>
              <a:srgbClr val="7BE8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45952" y="2542032"/>
            <a:ext cx="310896" cy="310896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6568" y="3310128"/>
            <a:ext cx="146304" cy="146304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3739896"/>
            <a:ext cx="201168" cy="201168"/>
          </a:xfrm>
          <a:prstGeom prst="ellipse">
            <a:avLst/>
          </a:prstGeom>
          <a:solidFill>
            <a:srgbClr val="7BE8CE"/>
          </a:solidFill>
          <a:ln w="12700">
            <a:solidFill>
              <a:srgbClr val="7BE8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40312" y="4078224"/>
            <a:ext cx="164592" cy="164592"/>
          </a:xfrm>
          <a:prstGeom prst="ellipse">
            <a:avLst/>
          </a:prstGeom>
          <a:solidFill>
            <a:srgbClr val="1F3A31"/>
          </a:solidFill>
          <a:ln w="12700">
            <a:solidFill>
              <a:srgbClr val="1F3A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00C2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NEXUSAI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" y="166420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让每个企业，拥有自己的 AI 工作台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822960" y="2606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E8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本地安全、企业直连、白标交付 —— 属于每家企业自己的智能工作台。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4224528"/>
            <a:ext cx="109728" cy="109728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本地运行 · 数据不出域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517136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与数据都在企业自己的电脑上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24528" y="4078224"/>
            <a:ext cx="0" cy="1170432"/>
          </a:xfrm>
          <a:prstGeom prst="line">
            <a:avLst/>
          </a:prstGeom>
          <a:noFill/>
          <a:ln w="12700">
            <a:solidFill>
              <a:srgbClr val="1F3A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8264" y="4224528"/>
            <a:ext cx="109728" cy="109728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登录即装载 · 随组织而变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98264" y="4517136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 · 技能 · 连接器 · 知识，一次接入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99832" y="4078224"/>
            <a:ext cx="0" cy="1170432"/>
          </a:xfrm>
          <a:prstGeom prst="line">
            <a:avLst/>
          </a:prstGeom>
          <a:noFill/>
          <a:ln w="12700">
            <a:solidFill>
              <a:srgbClr val="1F3A3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3568" y="4224528"/>
            <a:ext cx="109728" cy="109728"/>
          </a:xfrm>
          <a:prstGeom prst="ellipse">
            <a:avLst/>
          </a:prstGeom>
          <a:solidFill>
            <a:srgbClr val="00C29A"/>
          </a:solidFill>
          <a:ln w="12700">
            <a:solidFill>
              <a:srgbClr val="00C2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白标交付 · 多租户就绪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73568" y="4517136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8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品牌、服务器可配，一套客户端服务每家企业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70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NexusAI · NexusAgent Builder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NexusAgent Builder — 产品介绍</dc:title>
  <dc:subject>PptxGenJS Presentation</dc:subject>
  <dc:creator>NexusAI</dc:creator>
  <cp:lastModifiedBy>NexusAI</cp:lastModifiedBy>
  <cp:revision>1</cp:revision>
  <dcterms:created xsi:type="dcterms:W3CDTF">2026-10-12T02:02:17Z</dcterms:created>
  <dcterms:modified xsi:type="dcterms:W3CDTF">2026-10-12T02:02:17Z</dcterms:modified>
</cp:coreProperties>
</file>